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73152" cy="640080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91440"/>
            <a:ext cx="73152" cy="640080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91440"/>
            <a:ext cx="73152" cy="640080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91440"/>
            <a:ext cx="73152" cy="640080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1440"/>
            <a:ext cx="73152" cy="640080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Local RAG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FFC8"/>
                </a:solidFill>
              </a:rPr>
              <a:t>AI Knowledge Retrieval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515600" cy="3200400"/>
          </a:xfrm>
          <a:prstGeom prst="roundRect">
            <a:avLst/>
          </a:prstGeom>
          <a:solidFill>
            <a:srgbClr val="141C30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9601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0F0F0"/>
                </a:solidFill>
              </a:defRPr>
            </a:pPr>
            <a:r>
              <a:t>• AI-powered semantic document search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Uses Vector DB + Embeddings + LLMs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Understands meaning, not keywords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Enterprise-ready local 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B4B4"/>
                </a:solidFill>
              </a:rPr>
              <a:t>AI RAG System • Semantic Search • Vector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73152" cy="64008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91440"/>
            <a:ext cx="73152" cy="64008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91440"/>
            <a:ext cx="73152" cy="64008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91440"/>
            <a:ext cx="73152" cy="64008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1440"/>
            <a:ext cx="73152" cy="64008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How the System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B4FF"/>
                </a:solidFill>
              </a:rPr>
              <a:t>Internal RAG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515600" cy="3200400"/>
          </a:xfrm>
          <a:prstGeom prst="roundRect">
            <a:avLst/>
          </a:prstGeom>
          <a:solidFill>
            <a:srgbClr val="141C30"/>
          </a:solidFill>
          <a:ln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9601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0F0F0"/>
                </a:solidFill>
              </a:defRPr>
            </a:pPr>
            <a:r>
              <a:t>• Documents are split into chunks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Chunks converted into embeddings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Embeddings stored in ChromaDB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Semantic search retrieves relevant chunks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LLM generates contextual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B4B4"/>
                </a:solidFill>
              </a:rPr>
              <a:t>AI RAG System • Semantic Search • Vector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73152" cy="6400800"/>
          </a:xfrm>
          <a:prstGeom prst="rect">
            <a:avLst/>
          </a:prstGeom>
          <a:solidFill>
            <a:srgbClr val="78FFB4"/>
          </a:solidFill>
          <a:ln>
            <a:solidFill>
              <a:srgbClr val="78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91440"/>
            <a:ext cx="73152" cy="6400800"/>
          </a:xfrm>
          <a:prstGeom prst="rect">
            <a:avLst/>
          </a:prstGeom>
          <a:solidFill>
            <a:srgbClr val="78FFB4"/>
          </a:solidFill>
          <a:ln>
            <a:solidFill>
              <a:srgbClr val="78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91440"/>
            <a:ext cx="73152" cy="6400800"/>
          </a:xfrm>
          <a:prstGeom prst="rect">
            <a:avLst/>
          </a:prstGeom>
          <a:solidFill>
            <a:srgbClr val="78FFB4"/>
          </a:solidFill>
          <a:ln>
            <a:solidFill>
              <a:srgbClr val="78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91440"/>
            <a:ext cx="73152" cy="6400800"/>
          </a:xfrm>
          <a:prstGeom prst="rect">
            <a:avLst/>
          </a:prstGeom>
          <a:solidFill>
            <a:srgbClr val="78FFB4"/>
          </a:solidFill>
          <a:ln>
            <a:solidFill>
              <a:srgbClr val="78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1440"/>
            <a:ext cx="73152" cy="6400800"/>
          </a:xfrm>
          <a:prstGeom prst="rect">
            <a:avLst/>
          </a:prstGeom>
          <a:solidFill>
            <a:srgbClr val="78FFB4"/>
          </a:solidFill>
          <a:ln>
            <a:solidFill>
              <a:srgbClr val="78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78FFB4"/>
          </a:solidFill>
          <a:ln>
            <a:solidFill>
              <a:srgbClr val="78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Semantic Search using Cosine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8FFB4"/>
                </a:solidFill>
              </a:rPr>
              <a:t>How Correct Answers Are Found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515600" cy="3200400"/>
          </a:xfrm>
          <a:prstGeom prst="roundRect">
            <a:avLst/>
          </a:prstGeom>
          <a:solidFill>
            <a:srgbClr val="141C30"/>
          </a:solidFill>
          <a:ln>
            <a:solidFill>
              <a:srgbClr val="78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9601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0F0F0"/>
                </a:solidFill>
              </a:defRPr>
            </a:pPr>
            <a:r>
              <a:t>• Question and documents converted into vectors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Cosine similarity compares vector direction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Higher cosine score means higher semantic relevance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Cosine works better than sine/tan for semantic matching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Helps retrieve correct knowledge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B4B4"/>
                </a:solidFill>
              </a:rPr>
              <a:t>AI RAG System • Semantic Search • Vector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73152" cy="6400800"/>
          </a:xfrm>
          <a:prstGeom prst="rect">
            <a:avLst/>
          </a:prstGeom>
          <a:solidFill>
            <a:srgbClr val="FFB400"/>
          </a:solidFill>
          <a:ln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91440"/>
            <a:ext cx="73152" cy="6400800"/>
          </a:xfrm>
          <a:prstGeom prst="rect">
            <a:avLst/>
          </a:prstGeom>
          <a:solidFill>
            <a:srgbClr val="FFB400"/>
          </a:solidFill>
          <a:ln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91440"/>
            <a:ext cx="73152" cy="6400800"/>
          </a:xfrm>
          <a:prstGeom prst="rect">
            <a:avLst/>
          </a:prstGeom>
          <a:solidFill>
            <a:srgbClr val="FFB400"/>
          </a:solidFill>
          <a:ln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91440"/>
            <a:ext cx="73152" cy="6400800"/>
          </a:xfrm>
          <a:prstGeom prst="rect">
            <a:avLst/>
          </a:prstGeom>
          <a:solidFill>
            <a:srgbClr val="FFB400"/>
          </a:solidFill>
          <a:ln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91440"/>
            <a:ext cx="73152" cy="6400800"/>
          </a:xfrm>
          <a:prstGeom prst="rect">
            <a:avLst/>
          </a:prstGeom>
          <a:solidFill>
            <a:srgbClr val="FFB400"/>
          </a:solidFill>
          <a:ln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B400"/>
          </a:solidFill>
          <a:ln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Business Value &amp;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B400"/>
                </a:solidFill>
              </a:rPr>
              <a:t>Enterprise AI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515600" cy="3200400"/>
          </a:xfrm>
          <a:prstGeom prst="roundRect">
            <a:avLst/>
          </a:prstGeom>
          <a:solidFill>
            <a:srgbClr val="141C30"/>
          </a:solidFill>
          <a:ln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9601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0F0F0"/>
                </a:solidFill>
              </a:defRPr>
            </a:pPr>
            <a:r>
              <a:t>• Internal enterprise knowledge assistant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Engineering documentation search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Customer support automation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Secure local AI deployments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Fast intelligent document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B4B4"/>
                </a:solidFill>
              </a:rPr>
              <a:t>AI RAG System • Semantic Search • Vector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